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9" r:id="rId10"/>
    <p:sldMasterId id="2147483660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527BC636-B305-4ED5-97A7-6DF405C27D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62B62788-4E0E-405A-AA6C-A95084F98F8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FBD0C0-AAAD-443C-A144-3564C021FF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1C76E0-DD2A-4D46-9484-2350CAEF6E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 anchorCtr="1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0B2F4A-755F-4E25-904C-DEEAD2D42D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5BE902-72AE-4EEF-AF20-82F26547ED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496060-645E-414F-8E49-8867DF8FD4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D1C997-16F2-47C4-B0CA-3224CDA560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75FEB3-E9A7-4076-BAA8-2380A77017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5B38B5-8E73-4F53-B164-2D2747CD12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4DFDEC-DF24-4B5F-A836-C63D077787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864000" lvl="1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296000" lvl="2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728000" lvl="3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160000" lvl="4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83722B-506D-43B6-BEA2-A28F81A045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377979-DF86-4672-AE5D-8FD4C72D3F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8732520" y="914400"/>
            <a:ext cx="2285640" cy="2285640"/>
          </a:xfrm>
          <a:prstGeom prst="ellipse">
            <a:avLst/>
          </a:prstGeom>
          <a:noFill/>
          <a:ln w="28080">
            <a:solidFill>
              <a:srgbClr val="E0B14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9372600" y="1572840"/>
            <a:ext cx="1737000" cy="1737000"/>
          </a:xfrm>
          <a:prstGeom prst="ellipse">
            <a:avLst/>
          </a:prstGeom>
          <a:noFill/>
          <a:ln w="28080">
            <a:solidFill>
              <a:srgbClr val="47BFA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9902880" y="2103120"/>
            <a:ext cx="914040" cy="914040"/>
          </a:xfrm>
          <a:prstGeom prst="ellipse">
            <a:avLst/>
          </a:prstGeom>
          <a:noFill/>
          <a:ln w="28080">
            <a:solidFill>
              <a:srgbClr val="5EA0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13160" y="621720"/>
            <a:ext cx="6400440" cy="5386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/>
            <a:r>
              <a:rPr lang="en-US" sz="3200" b="1" u="none" strike="noStrike" dirty="0">
                <a:solidFill>
                  <a:srgbClr val="E0B146"/>
                </a:solidFill>
                <a:effectLst/>
                <a:uFillTx/>
                <a:latin typeface="Aptos"/>
              </a:rPr>
              <a:t>GOLD Price Prediction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49880" y="2816280"/>
            <a:ext cx="6309000" cy="59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A reproducible forecasting workflow from market data to governed model evaluation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749880" y="4160520"/>
            <a:ext cx="1261440" cy="292320"/>
          </a:xfrm>
          <a:prstGeom prst="roundRect">
            <a:avLst>
              <a:gd name="adj" fmla="val 16667"/>
            </a:avLst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86240" y="419724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0C182C"/>
                </a:solidFill>
                <a:effectLst/>
                <a:uFillTx/>
                <a:latin typeface="Aptos"/>
              </a:rPr>
              <a:t>INGEST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749880" y="4535280"/>
            <a:ext cx="12614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0" name="Connector 10"/>
          <p:cNvCxnSpPr/>
          <p:nvPr/>
        </p:nvCxnSpPr>
        <p:spPr>
          <a:xfrm>
            <a:off x="2029680" y="4315680"/>
            <a:ext cx="119520" cy="360"/>
          </a:xfrm>
          <a:prstGeom prst="straightConnector1">
            <a:avLst/>
          </a:prstGeom>
          <a:ln w="12600">
            <a:solidFill>
              <a:srgbClr val="3A4F69"/>
            </a:solidFill>
            <a:round/>
          </a:ln>
        </p:spPr>
      </p:cxnSp>
      <p:sp>
        <p:nvSpPr>
          <p:cNvPr id="71" name="Rounded Rectangle 11"/>
          <p:cNvSpPr/>
          <p:nvPr/>
        </p:nvSpPr>
        <p:spPr>
          <a:xfrm>
            <a:off x="2167200" y="4160520"/>
            <a:ext cx="1261440" cy="2923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2203560" y="419724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ENGINEER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2167200" y="4535280"/>
            <a:ext cx="12614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or 14"/>
          <p:cNvCxnSpPr/>
          <p:nvPr/>
        </p:nvCxnSpPr>
        <p:spPr>
          <a:xfrm>
            <a:off x="3447000" y="4315680"/>
            <a:ext cx="119520" cy="360"/>
          </a:xfrm>
          <a:prstGeom prst="straightConnector1">
            <a:avLst/>
          </a:prstGeom>
          <a:ln w="12600">
            <a:solidFill>
              <a:srgbClr val="3A4F69"/>
            </a:solidFill>
            <a:round/>
          </a:ln>
        </p:spPr>
      </p:cxnSp>
      <p:sp>
        <p:nvSpPr>
          <p:cNvPr id="75" name="Rounded Rectangle 15"/>
          <p:cNvSpPr/>
          <p:nvPr/>
        </p:nvSpPr>
        <p:spPr>
          <a:xfrm>
            <a:off x="3584520" y="4160520"/>
            <a:ext cx="1261440" cy="2923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3620880" y="419724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EVALUATE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3584520" y="4535280"/>
            <a:ext cx="12614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Connector 18"/>
          <p:cNvCxnSpPr/>
          <p:nvPr/>
        </p:nvCxnSpPr>
        <p:spPr>
          <a:xfrm>
            <a:off x="4864320" y="4315680"/>
            <a:ext cx="119520" cy="360"/>
          </a:xfrm>
          <a:prstGeom prst="straightConnector1">
            <a:avLst/>
          </a:prstGeom>
          <a:ln w="12600">
            <a:solidFill>
              <a:srgbClr val="3A4F69"/>
            </a:solidFill>
            <a:round/>
          </a:ln>
        </p:spPr>
      </p:cxnSp>
      <p:sp>
        <p:nvSpPr>
          <p:cNvPr id="79" name="Rounded Rectangle 19"/>
          <p:cNvSpPr/>
          <p:nvPr/>
        </p:nvSpPr>
        <p:spPr>
          <a:xfrm>
            <a:off x="5001840" y="4160520"/>
            <a:ext cx="1261440" cy="2923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5038200" y="419724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REVIEW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1"/>
          <p:cNvSpPr/>
          <p:nvPr/>
        </p:nvSpPr>
        <p:spPr>
          <a:xfrm>
            <a:off x="5001840" y="4535280"/>
            <a:ext cx="12614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Connector 22"/>
          <p:cNvCxnSpPr/>
          <p:nvPr/>
        </p:nvCxnSpPr>
        <p:spPr>
          <a:xfrm>
            <a:off x="6281640" y="4315680"/>
            <a:ext cx="119520" cy="360"/>
          </a:xfrm>
          <a:prstGeom prst="straightConnector1">
            <a:avLst/>
          </a:prstGeom>
          <a:ln w="12600">
            <a:solidFill>
              <a:srgbClr val="3A4F69"/>
            </a:solidFill>
            <a:round/>
          </a:ln>
        </p:spPr>
      </p:cxnSp>
      <p:sp>
        <p:nvSpPr>
          <p:cNvPr id="83" name="Rounded Rectangle 23"/>
          <p:cNvSpPr/>
          <p:nvPr/>
        </p:nvSpPr>
        <p:spPr>
          <a:xfrm>
            <a:off x="6419160" y="4160520"/>
            <a:ext cx="1261440" cy="2923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6455520" y="4197240"/>
            <a:ext cx="1188360" cy="16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FORECAST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6419160" y="4535280"/>
            <a:ext cx="126144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749880" y="5925240"/>
            <a:ext cx="658332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Python  •  Tkinter desktop GUI  •  Time-series ML  •  AWS deployment path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9144000" y="5212080"/>
            <a:ext cx="2377080" cy="53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ctr"/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DATA → EVIDENCE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→ DECISION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01 / EXECUTIVE SUMMARY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A transparent forecasting experiment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The objective is to measure predictive value honestly—not to promise a price target.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640080" y="187452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7"/>
          <p:cNvSpPr/>
          <p:nvPr/>
        </p:nvSpPr>
        <p:spPr>
          <a:xfrm>
            <a:off x="640080" y="1993320"/>
            <a:ext cx="50040" cy="12250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822960" y="2020680"/>
            <a:ext cx="312696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Research question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822960" y="2395800"/>
            <a:ext cx="3108600" cy="44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Do market-history features improve on simple next-session baselines?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4361760" y="187452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Rectangle 11"/>
          <p:cNvSpPr/>
          <p:nvPr/>
        </p:nvSpPr>
        <p:spPr>
          <a:xfrm>
            <a:off x="4361760" y="1993320"/>
            <a:ext cx="50040" cy="12250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4544640" y="2020680"/>
            <a:ext cx="312696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Evaluation principle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4544640" y="2395800"/>
            <a:ext cx="31086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Chronological splits, walk-forward validation and explicit baseline comparison.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4"/>
          <p:cNvSpPr/>
          <p:nvPr/>
        </p:nvSpPr>
        <p:spPr>
          <a:xfrm>
            <a:off x="8083440" y="1874520"/>
            <a:ext cx="3474360" cy="14626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15"/>
          <p:cNvSpPr/>
          <p:nvPr/>
        </p:nvSpPr>
        <p:spPr>
          <a:xfrm>
            <a:off x="8083440" y="1993320"/>
            <a:ext cx="50040" cy="122508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8266320" y="2020680"/>
            <a:ext cx="312696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Decision principle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8266320" y="2395800"/>
            <a:ext cx="31086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A model is a candidate only when evidence supports it; approval alone does not prove quality.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749880" y="3840480"/>
            <a:ext cx="52117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WHAT THE WORKFLOW DELIVERS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9"/>
          <p:cNvSpPr/>
          <p:nvPr/>
        </p:nvSpPr>
        <p:spPr>
          <a:xfrm>
            <a:off x="749880" y="4224600"/>
            <a:ext cx="5303160" cy="84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Data lineage: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source, timestamps and ingestion logs.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Model evidence: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fold metrics, holdout metrics and baseline comparisons.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Governance: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candidate manifest and explicit human review.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0"/>
          <p:cNvSpPr/>
          <p:nvPr/>
        </p:nvSpPr>
        <p:spPr>
          <a:xfrm>
            <a:off x="6355080" y="3840480"/>
            <a:ext cx="484596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F7E70"/>
                </a:solidFill>
                <a:effectLst/>
                <a:uFillTx/>
                <a:latin typeface="Aptos"/>
              </a:rPr>
              <a:t>WHAT IT DOES NOT CLAIM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1"/>
          <p:cNvSpPr/>
          <p:nvPr/>
        </p:nvSpPr>
        <p:spPr>
          <a:xfrm>
            <a:off x="6355080" y="4224600"/>
            <a:ext cx="493740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F7E70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No guaranteed accuracy: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markets are non-stationary.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F7E70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No investment signal: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forecasts are research outputs.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F7E70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No assumed cloud deployment: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AWS resources must be deployed and verified.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02 / DATA FOUNDATION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Two input families, different limitations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Market history provides the target context; news is an optional feature family that must prove its value.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6"/>
          <p:cNvSpPr/>
          <p:nvPr/>
        </p:nvSpPr>
        <p:spPr>
          <a:xfrm>
            <a:off x="685800" y="1874520"/>
            <a:ext cx="5257440" cy="182844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7"/>
          <p:cNvSpPr/>
          <p:nvPr/>
        </p:nvSpPr>
        <p:spPr>
          <a:xfrm>
            <a:off x="685800" y="1993320"/>
            <a:ext cx="50040" cy="159084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8"/>
          <p:cNvSpPr/>
          <p:nvPr/>
        </p:nvSpPr>
        <p:spPr>
          <a:xfrm>
            <a:off x="868680" y="2020680"/>
            <a:ext cx="491004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MARKET DATA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9"/>
          <p:cNvSpPr/>
          <p:nvPr/>
        </p:nvSpPr>
        <p:spPr>
          <a:xfrm>
            <a:off x="868680" y="2395800"/>
            <a:ext cx="489168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Yahoo Finance daily market bars; `GC=F` is used as a gold-futures proxy. Related assets can provide candidate context signals.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0"/>
          <p:cNvSpPr/>
          <p:nvPr/>
        </p:nvSpPr>
        <p:spPr>
          <a:xfrm>
            <a:off x="6245280" y="1874520"/>
            <a:ext cx="5257440" cy="182844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1"/>
          <p:cNvSpPr/>
          <p:nvPr/>
        </p:nvSpPr>
        <p:spPr>
          <a:xfrm>
            <a:off x="6245280" y="1993320"/>
            <a:ext cx="50040" cy="159084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2"/>
          <p:cNvSpPr/>
          <p:nvPr/>
        </p:nvSpPr>
        <p:spPr>
          <a:xfrm>
            <a:off x="6428160" y="2020680"/>
            <a:ext cx="491004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NEWS METADATA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3"/>
          <p:cNvSpPr/>
          <p:nvPr/>
        </p:nvSpPr>
        <p:spPr>
          <a:xfrm>
            <a:off x="6428160" y="2395800"/>
            <a:ext cx="489168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Public news adapters can return recent article metadata. Coverage is bounded, provider-dependent and not guaranteed to be a complete historical archive.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4"/>
          <p:cNvSpPr/>
          <p:nvPr/>
        </p:nvSpPr>
        <p:spPr>
          <a:xfrm>
            <a:off x="758880" y="4133160"/>
            <a:ext cx="10698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DATA QUALITY CONTROLS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5"/>
          <p:cNvSpPr/>
          <p:nvPr/>
        </p:nvSpPr>
        <p:spPr>
          <a:xfrm>
            <a:off x="777240" y="459036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16"/>
          <p:cNvSpPr/>
          <p:nvPr/>
        </p:nvSpPr>
        <p:spPr>
          <a:xfrm>
            <a:off x="777240" y="4709160"/>
            <a:ext cx="50040" cy="7678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7"/>
          <p:cNvSpPr/>
          <p:nvPr/>
        </p:nvSpPr>
        <p:spPr>
          <a:xfrm>
            <a:off x="960120" y="4736520"/>
            <a:ext cx="17096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Collect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8"/>
          <p:cNvSpPr/>
          <p:nvPr/>
        </p:nvSpPr>
        <p:spPr>
          <a:xfrm>
            <a:off x="960120" y="5111640"/>
            <a:ext cx="16912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Source + query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Connector 19"/>
          <p:cNvCxnSpPr/>
          <p:nvPr/>
        </p:nvCxnSpPr>
        <p:spPr>
          <a:xfrm>
            <a:off x="2880360" y="5083920"/>
            <a:ext cx="54900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130" name="Rounded Rectangle 20"/>
          <p:cNvSpPr/>
          <p:nvPr/>
        </p:nvSpPr>
        <p:spPr>
          <a:xfrm>
            <a:off x="3611880" y="459036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21"/>
          <p:cNvSpPr/>
          <p:nvPr/>
        </p:nvSpPr>
        <p:spPr>
          <a:xfrm>
            <a:off x="3611880" y="4709160"/>
            <a:ext cx="50040" cy="7678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2"/>
          <p:cNvSpPr/>
          <p:nvPr/>
        </p:nvSpPr>
        <p:spPr>
          <a:xfrm>
            <a:off x="3794760" y="4736520"/>
            <a:ext cx="17096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Validate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3"/>
          <p:cNvSpPr/>
          <p:nvPr/>
        </p:nvSpPr>
        <p:spPr>
          <a:xfrm>
            <a:off x="3794760" y="5111640"/>
            <a:ext cx="16912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Schema + gaps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Connector 24"/>
          <p:cNvCxnSpPr/>
          <p:nvPr/>
        </p:nvCxnSpPr>
        <p:spPr>
          <a:xfrm>
            <a:off x="5715000" y="5083920"/>
            <a:ext cx="54900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135" name="Rounded Rectangle 25"/>
          <p:cNvSpPr/>
          <p:nvPr/>
        </p:nvSpPr>
        <p:spPr>
          <a:xfrm>
            <a:off x="6446520" y="459036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26"/>
          <p:cNvSpPr/>
          <p:nvPr/>
        </p:nvSpPr>
        <p:spPr>
          <a:xfrm>
            <a:off x="6446520" y="4709160"/>
            <a:ext cx="50040" cy="76788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7"/>
          <p:cNvSpPr/>
          <p:nvPr/>
        </p:nvSpPr>
        <p:spPr>
          <a:xfrm>
            <a:off x="6629400" y="4736520"/>
            <a:ext cx="17096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Align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8"/>
          <p:cNvSpPr/>
          <p:nvPr/>
        </p:nvSpPr>
        <p:spPr>
          <a:xfrm>
            <a:off x="6629400" y="5111640"/>
            <a:ext cx="16912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Publication / retrieval time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Connector 29"/>
          <p:cNvCxnSpPr/>
          <p:nvPr/>
        </p:nvCxnSpPr>
        <p:spPr>
          <a:xfrm>
            <a:off x="8549640" y="5083920"/>
            <a:ext cx="54900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140" name="Rounded Rectangle 30"/>
          <p:cNvSpPr/>
          <p:nvPr/>
        </p:nvSpPr>
        <p:spPr>
          <a:xfrm>
            <a:off x="9281160" y="4590360"/>
            <a:ext cx="2057040" cy="1005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31"/>
          <p:cNvSpPr/>
          <p:nvPr/>
        </p:nvSpPr>
        <p:spPr>
          <a:xfrm>
            <a:off x="9281160" y="4709160"/>
            <a:ext cx="50040" cy="7678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32"/>
          <p:cNvSpPr/>
          <p:nvPr/>
        </p:nvSpPr>
        <p:spPr>
          <a:xfrm>
            <a:off x="9464040" y="4736520"/>
            <a:ext cx="17096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Archive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3"/>
          <p:cNvSpPr/>
          <p:nvPr/>
        </p:nvSpPr>
        <p:spPr>
          <a:xfrm>
            <a:off x="9464040" y="5111640"/>
            <a:ext cx="169128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CSV + audit log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4"/>
          <p:cNvSpPr/>
          <p:nvPr/>
        </p:nvSpPr>
        <p:spPr>
          <a:xfrm>
            <a:off x="777240" y="5833800"/>
            <a:ext cx="1060668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8E6B5"/>
                </a:solidFill>
                <a:effectLst/>
                <a:uFillTx/>
                <a:latin typeface="Aptos"/>
              </a:rPr>
              <a:t>A query log records what was attempted; it does not prove that every relevant article was retrieved.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03 / FEATURE ENGINEERING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Timing controls are central to trustworthy evaluation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Predictors must be available at forecast time; future information must never enter the feature matrix.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6"/>
          <p:cNvSpPr/>
          <p:nvPr/>
        </p:nvSpPr>
        <p:spPr>
          <a:xfrm>
            <a:off x="685800" y="1874520"/>
            <a:ext cx="3456000" cy="2148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7"/>
          <p:cNvSpPr/>
          <p:nvPr/>
        </p:nvSpPr>
        <p:spPr>
          <a:xfrm>
            <a:off x="685800" y="1993320"/>
            <a:ext cx="50040" cy="19108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868680" y="2020680"/>
            <a:ext cx="310860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PRICE HISTORY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868680" y="2395800"/>
            <a:ext cx="309024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Lagged closes and returns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Rolling means and volatility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Momentum and trend proxies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0"/>
          <p:cNvSpPr/>
          <p:nvPr/>
        </p:nvSpPr>
        <p:spPr>
          <a:xfrm>
            <a:off x="4370760" y="1874520"/>
            <a:ext cx="3456000" cy="2148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11"/>
          <p:cNvSpPr/>
          <p:nvPr/>
        </p:nvSpPr>
        <p:spPr>
          <a:xfrm>
            <a:off x="4370760" y="1993320"/>
            <a:ext cx="50040" cy="19108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4553640" y="2020680"/>
            <a:ext cx="310860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RELATED MARKETS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4553640" y="2395800"/>
            <a:ext cx="309024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Candidate cross-asset returns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Currency and risk context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Value tested out-of-sample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14"/>
          <p:cNvSpPr/>
          <p:nvPr/>
        </p:nvSpPr>
        <p:spPr>
          <a:xfrm>
            <a:off x="8055720" y="1874520"/>
            <a:ext cx="3456000" cy="21484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15"/>
          <p:cNvSpPr/>
          <p:nvPr/>
        </p:nvSpPr>
        <p:spPr>
          <a:xfrm>
            <a:off x="8055720" y="1993320"/>
            <a:ext cx="50040" cy="191088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8238600" y="2020680"/>
            <a:ext cx="310860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NEWS FEATURES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7"/>
          <p:cNvSpPr/>
          <p:nvPr/>
        </p:nvSpPr>
        <p:spPr>
          <a:xfrm>
            <a:off x="8238600" y="2395800"/>
            <a:ext cx="309024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Article volume and sentiment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Positive / negative share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Time-aligned and lagged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749880" y="4407480"/>
            <a:ext cx="105152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TIME-ORDERED FEATURE POLICY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Oval 19"/>
          <p:cNvSpPr/>
          <p:nvPr/>
        </p:nvSpPr>
        <p:spPr>
          <a:xfrm>
            <a:off x="960120" y="4892040"/>
            <a:ext cx="438480" cy="438480"/>
          </a:xfrm>
          <a:prstGeom prst="ellipse">
            <a:avLst/>
          </a:prstGeom>
          <a:solidFill>
            <a:srgbClr val="3A4F6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0"/>
          <p:cNvSpPr/>
          <p:nvPr/>
        </p:nvSpPr>
        <p:spPr>
          <a:xfrm>
            <a:off x="850320" y="5422320"/>
            <a:ext cx="20570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t−2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1"/>
          <p:cNvSpPr/>
          <p:nvPr/>
        </p:nvSpPr>
        <p:spPr>
          <a:xfrm>
            <a:off x="850320" y="5687640"/>
            <a:ext cx="22399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Earlier observations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Connector 22"/>
          <p:cNvCxnSpPr/>
          <p:nvPr/>
        </p:nvCxnSpPr>
        <p:spPr>
          <a:xfrm>
            <a:off x="1463040" y="5111280"/>
            <a:ext cx="2066760" cy="360"/>
          </a:xfrm>
          <a:prstGeom prst="straightConnector1">
            <a:avLst/>
          </a:prstGeom>
          <a:ln w="17640">
            <a:solidFill>
              <a:srgbClr val="3A4F69"/>
            </a:solidFill>
            <a:round/>
          </a:ln>
        </p:spPr>
      </p:cxnSp>
      <p:sp>
        <p:nvSpPr>
          <p:cNvPr id="168" name="Oval 23"/>
          <p:cNvSpPr/>
          <p:nvPr/>
        </p:nvSpPr>
        <p:spPr>
          <a:xfrm>
            <a:off x="3657600" y="4892040"/>
            <a:ext cx="438480" cy="438480"/>
          </a:xfrm>
          <a:prstGeom prst="ellipse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3547800" y="5422320"/>
            <a:ext cx="20570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t−1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5"/>
          <p:cNvSpPr/>
          <p:nvPr/>
        </p:nvSpPr>
        <p:spPr>
          <a:xfrm>
            <a:off x="3547800" y="5687640"/>
            <a:ext cx="22399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Known predictors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or 26"/>
          <p:cNvCxnSpPr/>
          <p:nvPr/>
        </p:nvCxnSpPr>
        <p:spPr>
          <a:xfrm>
            <a:off x="4160520" y="5111280"/>
            <a:ext cx="2066760" cy="360"/>
          </a:xfrm>
          <a:prstGeom prst="straightConnector1">
            <a:avLst/>
          </a:prstGeom>
          <a:ln w="17640">
            <a:solidFill>
              <a:srgbClr val="3A4F69"/>
            </a:solidFill>
            <a:round/>
          </a:ln>
        </p:spPr>
      </p:cxnSp>
      <p:sp>
        <p:nvSpPr>
          <p:cNvPr id="172" name="Oval 27"/>
          <p:cNvSpPr/>
          <p:nvPr/>
        </p:nvSpPr>
        <p:spPr>
          <a:xfrm>
            <a:off x="6355080" y="4892040"/>
            <a:ext cx="438480" cy="438480"/>
          </a:xfrm>
          <a:prstGeom prst="ellipse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8"/>
          <p:cNvSpPr/>
          <p:nvPr/>
        </p:nvSpPr>
        <p:spPr>
          <a:xfrm>
            <a:off x="6245280" y="5422320"/>
            <a:ext cx="20570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9"/>
          <p:cNvSpPr/>
          <p:nvPr/>
        </p:nvSpPr>
        <p:spPr>
          <a:xfrm>
            <a:off x="6245280" y="5687640"/>
            <a:ext cx="22399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Forecast cutoff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5" name="Connector 30"/>
          <p:cNvCxnSpPr/>
          <p:nvPr/>
        </p:nvCxnSpPr>
        <p:spPr>
          <a:xfrm>
            <a:off x="6858000" y="5111280"/>
            <a:ext cx="2066760" cy="360"/>
          </a:xfrm>
          <a:prstGeom prst="straightConnector1">
            <a:avLst/>
          </a:prstGeom>
          <a:ln w="17640">
            <a:solidFill>
              <a:srgbClr val="3A4F69"/>
            </a:solidFill>
            <a:round/>
          </a:ln>
        </p:spPr>
      </p:cxnSp>
      <p:sp>
        <p:nvSpPr>
          <p:cNvPr id="176" name="Oval 31"/>
          <p:cNvSpPr/>
          <p:nvPr/>
        </p:nvSpPr>
        <p:spPr>
          <a:xfrm>
            <a:off x="9052560" y="4892040"/>
            <a:ext cx="438480" cy="438480"/>
          </a:xfrm>
          <a:prstGeom prst="ellipse">
            <a:avLst/>
          </a:prstGeom>
          <a:solidFill>
            <a:srgbClr val="EF7E70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32"/>
          <p:cNvSpPr/>
          <p:nvPr/>
        </p:nvSpPr>
        <p:spPr>
          <a:xfrm>
            <a:off x="8942760" y="5422320"/>
            <a:ext cx="20570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t+1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3"/>
          <p:cNvSpPr/>
          <p:nvPr/>
        </p:nvSpPr>
        <p:spPr>
          <a:xfrm>
            <a:off x="8942760" y="5687640"/>
            <a:ext cx="22399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Target observation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04 / EVALUATION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The baseline is the standard to beat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Chronological evaluation is more informative than a single random split or one headline metric.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685800" y="1828800"/>
            <a:ext cx="347436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685800" y="1947600"/>
            <a:ext cx="50040" cy="9964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8"/>
          <p:cNvSpPr/>
          <p:nvPr/>
        </p:nvSpPr>
        <p:spPr>
          <a:xfrm>
            <a:off x="868680" y="197496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PERSISTENCE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868680" y="2350080"/>
            <a:ext cx="310860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Next-session price equals the latest observed price.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0"/>
          <p:cNvSpPr/>
          <p:nvPr/>
        </p:nvSpPr>
        <p:spPr>
          <a:xfrm>
            <a:off x="4370760" y="1828800"/>
            <a:ext cx="347436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11"/>
          <p:cNvSpPr/>
          <p:nvPr/>
        </p:nvSpPr>
        <p:spPr>
          <a:xfrm>
            <a:off x="4370760" y="1947600"/>
            <a:ext cx="50040" cy="9964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2"/>
          <p:cNvSpPr/>
          <p:nvPr/>
        </p:nvSpPr>
        <p:spPr>
          <a:xfrm>
            <a:off x="4553640" y="197496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SEASONAL NAIVE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3"/>
          <p:cNvSpPr/>
          <p:nvPr/>
        </p:nvSpPr>
        <p:spPr>
          <a:xfrm>
            <a:off x="4553640" y="2350080"/>
            <a:ext cx="310860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Uses a prior comparable session as a simple reference.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4"/>
          <p:cNvSpPr/>
          <p:nvPr/>
        </p:nvSpPr>
        <p:spPr>
          <a:xfrm>
            <a:off x="8055720" y="1828800"/>
            <a:ext cx="347436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15"/>
          <p:cNvSpPr/>
          <p:nvPr/>
        </p:nvSpPr>
        <p:spPr>
          <a:xfrm>
            <a:off x="8055720" y="1947600"/>
            <a:ext cx="50040" cy="99648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6"/>
          <p:cNvSpPr/>
          <p:nvPr/>
        </p:nvSpPr>
        <p:spPr>
          <a:xfrm>
            <a:off x="8238600" y="197496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ML CANDIDATES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8238600" y="2350080"/>
            <a:ext cx="310860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Tree-based regressors evaluated with time-aware folds.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8"/>
          <p:cNvSpPr/>
          <p:nvPr/>
        </p:nvSpPr>
        <p:spPr>
          <a:xfrm>
            <a:off x="749880" y="3456360"/>
            <a:ext cx="484596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RECORDED EXPERIMENT SNAPSHOT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9"/>
          <p:cNvSpPr/>
          <p:nvPr/>
        </p:nvSpPr>
        <p:spPr>
          <a:xfrm>
            <a:off x="749880" y="3822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20"/>
          <p:cNvSpPr/>
          <p:nvPr/>
        </p:nvSpPr>
        <p:spPr>
          <a:xfrm>
            <a:off x="749880" y="3940920"/>
            <a:ext cx="50040" cy="1179360"/>
          </a:xfrm>
          <a:prstGeom prst="rect">
            <a:avLst/>
          </a:prstGeom>
          <a:solidFill>
            <a:srgbClr val="EF7E70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21"/>
          <p:cNvSpPr/>
          <p:nvPr/>
        </p:nvSpPr>
        <p:spPr>
          <a:xfrm>
            <a:off x="932760" y="3968640"/>
            <a:ext cx="30812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5-YEAR RUN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2"/>
          <p:cNvSpPr/>
          <p:nvPr/>
        </p:nvSpPr>
        <p:spPr>
          <a:xfrm>
            <a:off x="932760" y="4343400"/>
            <a:ext cx="3062880" cy="59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Best observed CV RMSE ≈ 30.36–30.38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No candidate passed the configured baseline gate.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23"/>
          <p:cNvSpPr/>
          <p:nvPr/>
        </p:nvSpPr>
        <p:spPr>
          <a:xfrm>
            <a:off x="4380120" y="3822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4"/>
          <p:cNvSpPr/>
          <p:nvPr/>
        </p:nvSpPr>
        <p:spPr>
          <a:xfrm>
            <a:off x="4380120" y="3940920"/>
            <a:ext cx="50040" cy="117936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5"/>
          <p:cNvSpPr/>
          <p:nvPr/>
        </p:nvSpPr>
        <p:spPr>
          <a:xfrm>
            <a:off x="4563000" y="3968640"/>
            <a:ext cx="30812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2-YEAR RUN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6"/>
          <p:cNvSpPr/>
          <p:nvPr/>
        </p:nvSpPr>
        <p:spPr>
          <a:xfrm>
            <a:off x="4563000" y="4343400"/>
            <a:ext cx="306288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Extra Trees CV RMSE ≈ 76.44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Persistence CV RMSE ≈ 76.80.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27"/>
          <p:cNvSpPr/>
          <p:nvPr/>
        </p:nvSpPr>
        <p:spPr>
          <a:xfrm>
            <a:off x="8010000" y="382212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28"/>
          <p:cNvSpPr/>
          <p:nvPr/>
        </p:nvSpPr>
        <p:spPr>
          <a:xfrm>
            <a:off x="8010000" y="3940920"/>
            <a:ext cx="50040" cy="1179360"/>
          </a:xfrm>
          <a:prstGeom prst="rect">
            <a:avLst/>
          </a:prstGeom>
          <a:solidFill>
            <a:srgbClr val="EF7E70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29"/>
          <p:cNvSpPr/>
          <p:nvPr/>
        </p:nvSpPr>
        <p:spPr>
          <a:xfrm>
            <a:off x="8192880" y="3968640"/>
            <a:ext cx="30812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HOLDOUT CAUTION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0"/>
          <p:cNvSpPr/>
          <p:nvPr/>
        </p:nvSpPr>
        <p:spPr>
          <a:xfrm>
            <a:off x="8192880" y="4343400"/>
            <a:ext cx="3062880" cy="57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1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2-year holdout RMSE ≈ 63.05 vs persistence ≈ 60.70.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The holdout did not beat persistence.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1"/>
          <p:cNvSpPr/>
          <p:nvPr/>
        </p:nvSpPr>
        <p:spPr>
          <a:xfrm>
            <a:off x="768240" y="5650920"/>
            <a:ext cx="1078956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8E6B5"/>
                </a:solidFill>
                <a:effectLst/>
                <a:uFillTx/>
                <a:latin typeface="Aptos"/>
              </a:rPr>
              <a:t>Interpretation: the evidence does not establish reliable predictive improvement. Human approval is governance—not proof of model superiority.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05 / DESKTOP WORKBENCH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One interface for research and cloud operations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The desktop GUI keeps common research tasks accessible without requiring a local web server for ordinary forecasting.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6"/>
          <p:cNvSpPr/>
          <p:nvPr/>
        </p:nvSpPr>
        <p:spPr>
          <a:xfrm>
            <a:off x="685800" y="2057400"/>
            <a:ext cx="169128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685800" y="2176200"/>
            <a:ext cx="50040" cy="9964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8"/>
          <p:cNvSpPr/>
          <p:nvPr/>
        </p:nvSpPr>
        <p:spPr>
          <a:xfrm>
            <a:off x="868680" y="2203560"/>
            <a:ext cx="134388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DATA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868680" y="2578680"/>
            <a:ext cx="13255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Fetch + inspect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Connector 10"/>
          <p:cNvCxnSpPr/>
          <p:nvPr/>
        </p:nvCxnSpPr>
        <p:spPr>
          <a:xfrm>
            <a:off x="2423160" y="2669760"/>
            <a:ext cx="45756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222" name="Rounded Rectangle 11"/>
          <p:cNvSpPr/>
          <p:nvPr/>
        </p:nvSpPr>
        <p:spPr>
          <a:xfrm>
            <a:off x="2971800" y="2057400"/>
            <a:ext cx="169128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12"/>
          <p:cNvSpPr/>
          <p:nvPr/>
        </p:nvSpPr>
        <p:spPr>
          <a:xfrm>
            <a:off x="2971800" y="2176200"/>
            <a:ext cx="50040" cy="9964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3154680" y="2203560"/>
            <a:ext cx="134388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PREPARE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3154680" y="2578680"/>
            <a:ext cx="13255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Validate + features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6" name="Connector 15"/>
          <p:cNvCxnSpPr/>
          <p:nvPr/>
        </p:nvCxnSpPr>
        <p:spPr>
          <a:xfrm>
            <a:off x="4709160" y="2669760"/>
            <a:ext cx="45756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227" name="Rounded Rectangle 16"/>
          <p:cNvSpPr/>
          <p:nvPr/>
        </p:nvSpPr>
        <p:spPr>
          <a:xfrm>
            <a:off x="5257800" y="2057400"/>
            <a:ext cx="169128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17"/>
          <p:cNvSpPr/>
          <p:nvPr/>
        </p:nvSpPr>
        <p:spPr>
          <a:xfrm>
            <a:off x="5257800" y="2176200"/>
            <a:ext cx="50040" cy="99648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18"/>
          <p:cNvSpPr/>
          <p:nvPr/>
        </p:nvSpPr>
        <p:spPr>
          <a:xfrm>
            <a:off x="5440680" y="2203560"/>
            <a:ext cx="134388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TRAIN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5440680" y="2578680"/>
            <a:ext cx="13255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Chronological CV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1" name="Connector 20"/>
          <p:cNvCxnSpPr/>
          <p:nvPr/>
        </p:nvCxnSpPr>
        <p:spPr>
          <a:xfrm>
            <a:off x="6995160" y="2669760"/>
            <a:ext cx="45756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232" name="Rounded Rectangle 21"/>
          <p:cNvSpPr/>
          <p:nvPr/>
        </p:nvSpPr>
        <p:spPr>
          <a:xfrm>
            <a:off x="7543800" y="2057400"/>
            <a:ext cx="169128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22"/>
          <p:cNvSpPr/>
          <p:nvPr/>
        </p:nvSpPr>
        <p:spPr>
          <a:xfrm>
            <a:off x="7543800" y="2176200"/>
            <a:ext cx="50040" cy="9964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3"/>
          <p:cNvSpPr/>
          <p:nvPr/>
        </p:nvSpPr>
        <p:spPr>
          <a:xfrm>
            <a:off x="7726680" y="2203560"/>
            <a:ext cx="134388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REVIEW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4"/>
          <p:cNvSpPr/>
          <p:nvPr/>
        </p:nvSpPr>
        <p:spPr>
          <a:xfrm>
            <a:off x="7726680" y="2578680"/>
            <a:ext cx="13255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Metrics + audit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Connector 25"/>
          <p:cNvCxnSpPr/>
          <p:nvPr/>
        </p:nvCxnSpPr>
        <p:spPr>
          <a:xfrm>
            <a:off x="9281160" y="2669760"/>
            <a:ext cx="457560" cy="360"/>
          </a:xfrm>
          <a:prstGeom prst="straightConnector1">
            <a:avLst/>
          </a:prstGeom>
          <a:ln w="16560">
            <a:solidFill>
              <a:srgbClr val="3A4F69"/>
            </a:solidFill>
            <a:round/>
          </a:ln>
        </p:spPr>
      </p:cxnSp>
      <p:sp>
        <p:nvSpPr>
          <p:cNvPr id="237" name="Rounded Rectangle 26"/>
          <p:cNvSpPr/>
          <p:nvPr/>
        </p:nvSpPr>
        <p:spPr>
          <a:xfrm>
            <a:off x="9829800" y="2057400"/>
            <a:ext cx="1691280" cy="12340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27"/>
          <p:cNvSpPr/>
          <p:nvPr/>
        </p:nvSpPr>
        <p:spPr>
          <a:xfrm>
            <a:off x="9829800" y="2176200"/>
            <a:ext cx="50040" cy="9964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28"/>
          <p:cNvSpPr/>
          <p:nvPr/>
        </p:nvSpPr>
        <p:spPr>
          <a:xfrm>
            <a:off x="10012680" y="2203560"/>
            <a:ext cx="134388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FORECAST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9"/>
          <p:cNvSpPr/>
          <p:nvPr/>
        </p:nvSpPr>
        <p:spPr>
          <a:xfrm>
            <a:off x="10012680" y="2578680"/>
            <a:ext cx="132552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Next session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30"/>
          <p:cNvSpPr/>
          <p:nvPr/>
        </p:nvSpPr>
        <p:spPr>
          <a:xfrm>
            <a:off x="749880" y="3822120"/>
            <a:ext cx="5211720" cy="13255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31"/>
          <p:cNvSpPr/>
          <p:nvPr/>
        </p:nvSpPr>
        <p:spPr>
          <a:xfrm>
            <a:off x="749880" y="3940920"/>
            <a:ext cx="50040" cy="108792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2"/>
          <p:cNvSpPr/>
          <p:nvPr/>
        </p:nvSpPr>
        <p:spPr>
          <a:xfrm>
            <a:off x="932760" y="3968640"/>
            <a:ext cx="486432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FORECAST CENTER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3"/>
          <p:cNvSpPr/>
          <p:nvPr/>
        </p:nvSpPr>
        <p:spPr>
          <a:xfrm>
            <a:off x="932760" y="434340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Generate and review a research forecast from the saved approved model and compatible local data.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34"/>
          <p:cNvSpPr/>
          <p:nvPr/>
        </p:nvSpPr>
        <p:spPr>
          <a:xfrm>
            <a:off x="6236280" y="3822120"/>
            <a:ext cx="5211720" cy="13255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35"/>
          <p:cNvSpPr/>
          <p:nvPr/>
        </p:nvSpPr>
        <p:spPr>
          <a:xfrm>
            <a:off x="6236280" y="3940920"/>
            <a:ext cx="50040" cy="108792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6"/>
          <p:cNvSpPr/>
          <p:nvPr/>
        </p:nvSpPr>
        <p:spPr>
          <a:xfrm>
            <a:off x="6419160" y="3968640"/>
            <a:ext cx="4864320" cy="28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AWS CONTROL CENTER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7"/>
          <p:cNvSpPr/>
          <p:nvPr/>
        </p:nvSpPr>
        <p:spPr>
          <a:xfrm>
            <a:off x="6419160" y="4343400"/>
            <a:ext cx="4845960" cy="411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Check identity, validate/build SAM, deploy the base stack, upload data and start the configured SageMaker pipeline.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8"/>
          <p:cNvSpPr/>
          <p:nvPr/>
        </p:nvSpPr>
        <p:spPr>
          <a:xfrm>
            <a:off x="786240" y="5577840"/>
            <a:ext cx="1060668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Local and cloud actions are distinct; AWS buttons still require credentials, permissions, region configuration and cost awareness.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06 / DEPLOYMENT ARCHITECTURE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Two execution paths, one consistent evaluation standard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Start locally for iteration; move ingestion and ML jobs to AWS when repeatability and managed execution are needed.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6"/>
          <p:cNvSpPr/>
          <p:nvPr/>
        </p:nvSpPr>
        <p:spPr>
          <a:xfrm>
            <a:off x="685800" y="1828800"/>
            <a:ext cx="5257440" cy="5482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7"/>
          <p:cNvSpPr/>
          <p:nvPr/>
        </p:nvSpPr>
        <p:spPr>
          <a:xfrm>
            <a:off x="685800" y="1947600"/>
            <a:ext cx="50040" cy="31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868680" y="1974960"/>
            <a:ext cx="49100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DIRECTION A  •  LOCAL-FIRST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9"/>
          <p:cNvSpPr/>
          <p:nvPr/>
        </p:nvSpPr>
        <p:spPr>
          <a:xfrm>
            <a:off x="6236280" y="1828800"/>
            <a:ext cx="5257440" cy="54828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10"/>
          <p:cNvSpPr/>
          <p:nvPr/>
        </p:nvSpPr>
        <p:spPr>
          <a:xfrm>
            <a:off x="6236280" y="1947600"/>
            <a:ext cx="50040" cy="31068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11"/>
          <p:cNvSpPr/>
          <p:nvPr/>
        </p:nvSpPr>
        <p:spPr>
          <a:xfrm>
            <a:off x="6419160" y="1974960"/>
            <a:ext cx="491004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DIRECTION B  •  AWS-BASED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12"/>
          <p:cNvSpPr/>
          <p:nvPr/>
        </p:nvSpPr>
        <p:spPr>
          <a:xfrm>
            <a:off x="932760" y="263340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13"/>
          <p:cNvSpPr/>
          <p:nvPr/>
        </p:nvSpPr>
        <p:spPr>
          <a:xfrm>
            <a:off x="932760" y="2752200"/>
            <a:ext cx="50040" cy="29232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1115640" y="277992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Windows GUI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5504400" y="315468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Fetch market/news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Connector 16"/>
          <p:cNvCxnSpPr/>
          <p:nvPr/>
        </p:nvCxnSpPr>
        <p:spPr>
          <a:xfrm>
            <a:off x="3309840" y="318204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67" name="Rounded Rectangle 17"/>
          <p:cNvSpPr/>
          <p:nvPr/>
        </p:nvSpPr>
        <p:spPr>
          <a:xfrm>
            <a:off x="932760" y="334656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Rectangle 18"/>
          <p:cNvSpPr/>
          <p:nvPr/>
        </p:nvSpPr>
        <p:spPr>
          <a:xfrm>
            <a:off x="932760" y="3465720"/>
            <a:ext cx="50040" cy="29232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9"/>
          <p:cNvSpPr/>
          <p:nvPr/>
        </p:nvSpPr>
        <p:spPr>
          <a:xfrm>
            <a:off x="1115640" y="349308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Local Python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0"/>
          <p:cNvSpPr/>
          <p:nvPr/>
        </p:nvSpPr>
        <p:spPr>
          <a:xfrm>
            <a:off x="5504400" y="386784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Features + training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1" name="Connector 21"/>
          <p:cNvCxnSpPr/>
          <p:nvPr/>
        </p:nvCxnSpPr>
        <p:spPr>
          <a:xfrm>
            <a:off x="3309840" y="389520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72" name="Rounded Rectangle 22"/>
          <p:cNvSpPr/>
          <p:nvPr/>
        </p:nvSpPr>
        <p:spPr>
          <a:xfrm>
            <a:off x="932760" y="406008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23"/>
          <p:cNvSpPr/>
          <p:nvPr/>
        </p:nvSpPr>
        <p:spPr>
          <a:xfrm>
            <a:off x="932760" y="4178880"/>
            <a:ext cx="50040" cy="29232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24"/>
          <p:cNvSpPr/>
          <p:nvPr/>
        </p:nvSpPr>
        <p:spPr>
          <a:xfrm>
            <a:off x="1115640" y="420624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Model 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5"/>
          <p:cNvSpPr/>
          <p:nvPr/>
        </p:nvSpPr>
        <p:spPr>
          <a:xfrm>
            <a:off x="5504400" y="458100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Metrics + approval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ctor 26"/>
          <p:cNvCxnSpPr/>
          <p:nvPr/>
        </p:nvCxnSpPr>
        <p:spPr>
          <a:xfrm>
            <a:off x="3309840" y="460836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77" name="Rounded Rectangle 27"/>
          <p:cNvSpPr/>
          <p:nvPr/>
        </p:nvSpPr>
        <p:spPr>
          <a:xfrm>
            <a:off x="932760" y="477324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28"/>
          <p:cNvSpPr/>
          <p:nvPr/>
        </p:nvSpPr>
        <p:spPr>
          <a:xfrm>
            <a:off x="932760" y="4892040"/>
            <a:ext cx="50040" cy="29232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29"/>
          <p:cNvSpPr/>
          <p:nvPr/>
        </p:nvSpPr>
        <p:spPr>
          <a:xfrm>
            <a:off x="1115640" y="491940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Optional S3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30"/>
          <p:cNvSpPr/>
          <p:nvPr/>
        </p:nvSpPr>
        <p:spPr>
          <a:xfrm>
            <a:off x="5504400" y="529452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Upload selected data/artifacts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31"/>
          <p:cNvSpPr/>
          <p:nvPr/>
        </p:nvSpPr>
        <p:spPr>
          <a:xfrm>
            <a:off x="6483240" y="263340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32"/>
          <p:cNvSpPr/>
          <p:nvPr/>
        </p:nvSpPr>
        <p:spPr>
          <a:xfrm>
            <a:off x="6483240" y="2752200"/>
            <a:ext cx="50040" cy="29232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3"/>
          <p:cNvSpPr/>
          <p:nvPr/>
        </p:nvSpPr>
        <p:spPr>
          <a:xfrm>
            <a:off x="6666120" y="277992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EventBridge + Lambda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34"/>
          <p:cNvSpPr/>
          <p:nvPr/>
        </p:nvSpPr>
        <p:spPr>
          <a:xfrm>
            <a:off x="11054880" y="315468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Scheduled market collection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ctor 35"/>
          <p:cNvCxnSpPr/>
          <p:nvPr/>
        </p:nvCxnSpPr>
        <p:spPr>
          <a:xfrm>
            <a:off x="8860320" y="318204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86" name="Rounded Rectangle 36"/>
          <p:cNvSpPr/>
          <p:nvPr/>
        </p:nvSpPr>
        <p:spPr>
          <a:xfrm>
            <a:off x="6483240" y="334656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37"/>
          <p:cNvSpPr/>
          <p:nvPr/>
        </p:nvSpPr>
        <p:spPr>
          <a:xfrm>
            <a:off x="6483240" y="3465720"/>
            <a:ext cx="50040" cy="29232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8"/>
          <p:cNvSpPr/>
          <p:nvPr/>
        </p:nvSpPr>
        <p:spPr>
          <a:xfrm>
            <a:off x="6666120" y="349308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Amazon S3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9"/>
          <p:cNvSpPr/>
          <p:nvPr/>
        </p:nvSpPr>
        <p:spPr>
          <a:xfrm>
            <a:off x="11054880" y="386784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Private data / artifact storage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nector 40"/>
          <p:cNvCxnSpPr/>
          <p:nvPr/>
        </p:nvCxnSpPr>
        <p:spPr>
          <a:xfrm>
            <a:off x="8860320" y="389520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91" name="Rounded Rectangle 41"/>
          <p:cNvSpPr/>
          <p:nvPr/>
        </p:nvSpPr>
        <p:spPr>
          <a:xfrm>
            <a:off x="6483240" y="406008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Rectangle 42"/>
          <p:cNvSpPr/>
          <p:nvPr/>
        </p:nvSpPr>
        <p:spPr>
          <a:xfrm>
            <a:off x="6483240" y="4178880"/>
            <a:ext cx="50040" cy="29232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43"/>
          <p:cNvSpPr/>
          <p:nvPr/>
        </p:nvSpPr>
        <p:spPr>
          <a:xfrm>
            <a:off x="6666120" y="420624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SageMaker Pipeline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44"/>
          <p:cNvSpPr/>
          <p:nvPr/>
        </p:nvSpPr>
        <p:spPr>
          <a:xfrm>
            <a:off x="11054880" y="458100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Processing + training + evaluation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Connector 45"/>
          <p:cNvCxnSpPr/>
          <p:nvPr/>
        </p:nvCxnSpPr>
        <p:spPr>
          <a:xfrm>
            <a:off x="8860320" y="4608360"/>
            <a:ext cx="360" cy="146520"/>
          </a:xfrm>
          <a:prstGeom prst="straightConnector1">
            <a:avLst/>
          </a:prstGeom>
          <a:ln w="14040">
            <a:solidFill>
              <a:srgbClr val="3A4F69"/>
            </a:solidFill>
            <a:round/>
          </a:ln>
        </p:spPr>
      </p:cxnSp>
      <p:sp>
        <p:nvSpPr>
          <p:cNvPr id="296" name="Rounded Rectangle 46"/>
          <p:cNvSpPr/>
          <p:nvPr/>
        </p:nvSpPr>
        <p:spPr>
          <a:xfrm>
            <a:off x="6483240" y="4773240"/>
            <a:ext cx="4754520" cy="52992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47"/>
          <p:cNvSpPr/>
          <p:nvPr/>
        </p:nvSpPr>
        <p:spPr>
          <a:xfrm>
            <a:off x="6483240" y="4892040"/>
            <a:ext cx="50040" cy="29232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48"/>
          <p:cNvSpPr/>
          <p:nvPr/>
        </p:nvSpPr>
        <p:spPr>
          <a:xfrm>
            <a:off x="6666120" y="4919400"/>
            <a:ext cx="440712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Model Registry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49"/>
          <p:cNvSpPr/>
          <p:nvPr/>
        </p:nvSpPr>
        <p:spPr>
          <a:xfrm>
            <a:off x="11054880" y="5294520"/>
            <a:ext cx="438876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Candidate approval workflow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50"/>
          <p:cNvSpPr/>
          <p:nvPr/>
        </p:nvSpPr>
        <p:spPr>
          <a:xfrm>
            <a:off x="777240" y="5797440"/>
            <a:ext cx="10789560" cy="2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F8E6B5"/>
                </a:solidFill>
                <a:effectLst/>
                <a:uFillTx/>
                <a:latin typeface="Aptos"/>
              </a:rPr>
              <a:t>Current cloud scope: base SAM resources plus a separately configured SageMaker pipeline. Cloud news ingestion and hosted real-time serving require additional setup.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594360" y="237600"/>
            <a:ext cx="658080" cy="4068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2"/>
          <p:cNvSpPr/>
          <p:nvPr/>
        </p:nvSpPr>
        <p:spPr>
          <a:xfrm>
            <a:off x="594360" y="329040"/>
            <a:ext cx="1069812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07 / GOVERNANCE AND NEXT STEPS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594360" y="658440"/>
            <a:ext cx="10972440" cy="47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Improve evidence before increasing model complexity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621720" y="1225440"/>
            <a:ext cx="1088100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The strongest next step is better data coverage and validation—not a larger model by default.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11064240" y="6510600"/>
            <a:ext cx="502560" cy="18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6"/>
          <p:cNvSpPr/>
          <p:nvPr/>
        </p:nvSpPr>
        <p:spPr>
          <a:xfrm>
            <a:off x="685800" y="18745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685800" y="1993320"/>
            <a:ext cx="50040" cy="1819440"/>
          </a:xfrm>
          <a:prstGeom prst="rect">
            <a:avLst/>
          </a:prstGeom>
          <a:solidFill>
            <a:srgbClr val="E0B146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TextBox 8"/>
          <p:cNvSpPr/>
          <p:nvPr/>
        </p:nvSpPr>
        <p:spPr>
          <a:xfrm>
            <a:off x="868680" y="202068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DATA READINESS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9"/>
          <p:cNvSpPr/>
          <p:nvPr/>
        </p:nvSpPr>
        <p:spPr>
          <a:xfrm>
            <a:off x="868680" y="2395800"/>
            <a:ext cx="3108600" cy="77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Verify news coverage and timestamps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Audit forecast cutoff / exchange calendar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Preserve immutable data snapshots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0"/>
          <p:cNvSpPr/>
          <p:nvPr/>
        </p:nvSpPr>
        <p:spPr>
          <a:xfrm>
            <a:off x="4370760" y="18745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Rectangle 11"/>
          <p:cNvSpPr/>
          <p:nvPr/>
        </p:nvSpPr>
        <p:spPr>
          <a:xfrm>
            <a:off x="4370760" y="1993320"/>
            <a:ext cx="50040" cy="1819440"/>
          </a:xfrm>
          <a:prstGeom prst="rect">
            <a:avLst/>
          </a:prstGeom>
          <a:solidFill>
            <a:srgbClr val="47BFAD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Box 12"/>
          <p:cNvSpPr/>
          <p:nvPr/>
        </p:nvSpPr>
        <p:spPr>
          <a:xfrm>
            <a:off x="4553640" y="202068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MODEL VALIDITY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3"/>
          <p:cNvSpPr/>
          <p:nvPr/>
        </p:nvSpPr>
        <p:spPr>
          <a:xfrm>
            <a:off x="4553640" y="2395800"/>
            <a:ext cx="3108600" cy="77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Require holdout comparison to baselines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Tune only inside chronological folds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Inspect regime stability and uncertainty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Rounded Rectangle 14"/>
          <p:cNvSpPr/>
          <p:nvPr/>
        </p:nvSpPr>
        <p:spPr>
          <a:xfrm>
            <a:off x="8055720" y="1874520"/>
            <a:ext cx="3474360" cy="2057040"/>
          </a:xfrm>
          <a:prstGeom prst="roundRect">
            <a:avLst>
              <a:gd name="adj" fmla="val 16667"/>
            </a:avLst>
          </a:prstGeom>
          <a:solidFill>
            <a:srgbClr val="1B2F4A"/>
          </a:solidFill>
          <a:ln w="10080">
            <a:solidFill>
              <a:srgbClr val="3A4F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15"/>
          <p:cNvSpPr/>
          <p:nvPr/>
        </p:nvSpPr>
        <p:spPr>
          <a:xfrm>
            <a:off x="8055720" y="1993320"/>
            <a:ext cx="50040" cy="1819440"/>
          </a:xfrm>
          <a:prstGeom prst="rect">
            <a:avLst/>
          </a:prstGeom>
          <a:solidFill>
            <a:srgbClr val="5EA0E7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16"/>
          <p:cNvSpPr/>
          <p:nvPr/>
        </p:nvSpPr>
        <p:spPr>
          <a:xfrm>
            <a:off x="8238600" y="2020680"/>
            <a:ext cx="31269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Aptos"/>
              </a:rPr>
              <a:t>CLOUD READINESS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7"/>
          <p:cNvSpPr/>
          <p:nvPr/>
        </p:nvSpPr>
        <p:spPr>
          <a:xfrm>
            <a:off x="8238600" y="2395800"/>
            <a:ext cx="3108600" cy="59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Least-privilege IAM and encryption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Verify each AWS job and artifact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EBCCD"/>
                </a:solidFill>
                <a:effectLst/>
                <a:uFillTx/>
                <a:latin typeface="Aptos"/>
              </a:rPr>
              <a:t>• Monitor spend; stop unused compute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8"/>
          <p:cNvSpPr/>
          <p:nvPr/>
        </p:nvSpPr>
        <p:spPr>
          <a:xfrm>
            <a:off x="749880" y="4407480"/>
            <a:ext cx="1060668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0B146"/>
                </a:solidFill>
                <a:effectLst/>
                <a:uFillTx/>
                <a:latin typeface="Aptos"/>
              </a:rPr>
              <a:t>SUCCESS CRITERIA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9"/>
          <p:cNvSpPr/>
          <p:nvPr/>
        </p:nvSpPr>
        <p:spPr>
          <a:xfrm>
            <a:off x="749880" y="4773240"/>
            <a:ext cx="10698120" cy="84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Reproducible: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same inputs and configuration produce traceable outputs.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Evidence-led: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all model claims are supported by held-out metrics.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E0B146"/>
                </a:solidFill>
                <a:effectLst/>
                <a:uFillTx/>
                <a:latin typeface="Calibri"/>
              </a:rPr>
              <a:t>•  </a:t>
            </a:r>
            <a:r>
              <a:rPr lang="en-US" sz="1300" b="1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Governed: </a:t>
            </a:r>
            <a:r>
              <a:rPr lang="en-US" sz="1300" b="0" u="none" strike="noStrike">
                <a:solidFill>
                  <a:srgbClr val="F7F9FC"/>
                </a:solidFill>
                <a:effectLst/>
                <a:uFillTx/>
                <a:latin typeface="Calibri"/>
              </a:rPr>
              <a:t>promotion and deployment are explicit, reviewable decisions.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20"/>
          <p:cNvSpPr/>
          <p:nvPr/>
        </p:nvSpPr>
        <p:spPr>
          <a:xfrm>
            <a:off x="749880" y="6099120"/>
            <a:ext cx="1060668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7360" rIns="4572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8E6B5"/>
                </a:solidFill>
                <a:effectLst/>
                <a:uFillTx/>
                <a:latin typeface="Aptos"/>
              </a:rPr>
              <a:t>A cloud-ready architecture is not the same as a verified production deployment.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905</Words>
  <Application>Microsoft Office PowerPoint</Application>
  <PresentationFormat>Widescreen</PresentationFormat>
  <Paragraphs>160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5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</cp:lastModifiedBy>
  <cp:revision>2</cp:revision>
  <dcterms:modified xsi:type="dcterms:W3CDTF">2026-10-19T10:22:43Z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Project Team</dc:creator>
  <dc:description>Research prototype. Forecasts are not investment advice.</dc:description>
  <cp:keywords>gold price prediction machine learning time series AWS data science</cp:keywords>
  <dc:language>en-US</dc:language>
  <cp:lastModifiedBy>Steve Canny</cp:lastModifiedBy>
  <dcterms:modified xsi:type="dcterms:W3CDTF">2013-01-27T09:15:58Z</dcterms:modified>
  <cp:revision>1</cp:revision>
  <dc:subject>Market data, feature engineering, time-series evaluation, governance and AWS execution paths</dc:subject>
  <dc:title>Gold Price Prediction — Project Overview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